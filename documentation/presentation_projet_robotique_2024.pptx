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6"/>
    <p:sldId id="257" r:id="rId67"/>
    <p:sldId id="258" r:id="rId68"/>
    <p:sldId id="259" r:id="rId69"/>
    <p:sldId id="260" r:id="rId70"/>
    <p:sldId id="261" r:id="rId71"/>
    <p:sldId id="262" r:id="rId72"/>
    <p:sldId id="263" r:id="rId73"/>
    <p:sldId id="264" r:id="rId74"/>
    <p:sldId id="265" r:id="rId75"/>
    <p:sldId id="266" r:id="rId76"/>
    <p:sldId id="267" r:id="rId77"/>
    <p:sldId id="268" r:id="rId78"/>
    <p:sldId id="269" r:id="rId79"/>
    <p:sldId id="270" r:id="rId80"/>
    <p:sldId id="271" r:id="rId81"/>
    <p:sldId id="272" r:id="rId82"/>
    <p:sldId id="273" r:id="rId83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Open Sans Extra Bold" charset="1" panose="020B0906030804020204"/>
      <p:regular r:id="rId10"/>
    </p:embeddedFont>
    <p:embeddedFont>
      <p:font typeface="Open Sans Extra Bold Italics" charset="1" panose="020B0906030804020204"/>
      <p:regular r:id="rId11"/>
    </p:embeddedFont>
    <p:embeddedFont>
      <p:font typeface="Canva Sans" charset="1" panose="020B0503030501040103"/>
      <p:regular r:id="rId12"/>
    </p:embeddedFont>
    <p:embeddedFont>
      <p:font typeface="Canva Sans Bold" charset="1" panose="020B0803030501040103"/>
      <p:regular r:id="rId13"/>
    </p:embeddedFont>
    <p:embeddedFont>
      <p:font typeface="Canva Sans Italics" charset="1" panose="020B0503030501040103"/>
      <p:regular r:id="rId14"/>
    </p:embeddedFont>
    <p:embeddedFont>
      <p:font typeface="Canva Sans Bold Italics" charset="1" panose="020B0803030501040103"/>
      <p:regular r:id="rId15"/>
    </p:embeddedFont>
    <p:embeddedFont>
      <p:font typeface="Canva Sans Medium" charset="1" panose="020B0603030501040103"/>
      <p:regular r:id="rId16"/>
    </p:embeddedFont>
    <p:embeddedFont>
      <p:font typeface="Canva Sans Medium Italics" charset="1" panose="020B0603030501040103"/>
      <p:regular r:id="rId17"/>
    </p:embeddedFont>
    <p:embeddedFont>
      <p:font typeface="Poppins" charset="1" panose="00000500000000000000"/>
      <p:regular r:id="rId18"/>
    </p:embeddedFont>
    <p:embeddedFont>
      <p:font typeface="Poppins Bold" charset="1" panose="00000800000000000000"/>
      <p:regular r:id="rId19"/>
    </p:embeddedFont>
    <p:embeddedFont>
      <p:font typeface="Poppins Italics" charset="1" panose="00000500000000000000"/>
      <p:regular r:id="rId20"/>
    </p:embeddedFont>
    <p:embeddedFont>
      <p:font typeface="Poppins Bold Italics" charset="1" panose="00000800000000000000"/>
      <p:regular r:id="rId21"/>
    </p:embeddedFont>
    <p:embeddedFont>
      <p:font typeface="Poppins Thin" charset="1" panose="00000300000000000000"/>
      <p:regular r:id="rId22"/>
    </p:embeddedFont>
    <p:embeddedFont>
      <p:font typeface="Poppins Thin Italics" charset="1" panose="00000300000000000000"/>
      <p:regular r:id="rId23"/>
    </p:embeddedFont>
    <p:embeddedFont>
      <p:font typeface="Poppins Extra-Light" charset="1" panose="00000300000000000000"/>
      <p:regular r:id="rId24"/>
    </p:embeddedFont>
    <p:embeddedFont>
      <p:font typeface="Poppins Extra-Light Italics" charset="1" panose="00000300000000000000"/>
      <p:regular r:id="rId25"/>
    </p:embeddedFont>
    <p:embeddedFont>
      <p:font typeface="Poppins Light" charset="1" panose="00000400000000000000"/>
      <p:regular r:id="rId26"/>
    </p:embeddedFont>
    <p:embeddedFont>
      <p:font typeface="Poppins Light Italics" charset="1" panose="00000400000000000000"/>
      <p:regular r:id="rId27"/>
    </p:embeddedFont>
    <p:embeddedFont>
      <p:font typeface="Poppins Medium" charset="1" panose="00000600000000000000"/>
      <p:regular r:id="rId28"/>
    </p:embeddedFont>
    <p:embeddedFont>
      <p:font typeface="Poppins Medium Italics" charset="1" panose="00000600000000000000"/>
      <p:regular r:id="rId29"/>
    </p:embeddedFont>
    <p:embeddedFont>
      <p:font typeface="Poppins Semi-Bold" charset="1" panose="00000700000000000000"/>
      <p:regular r:id="rId30"/>
    </p:embeddedFont>
    <p:embeddedFont>
      <p:font typeface="Poppins Semi-Bold Italics" charset="1" panose="00000700000000000000"/>
      <p:regular r:id="rId31"/>
    </p:embeddedFont>
    <p:embeddedFont>
      <p:font typeface="Poppins Ultra-Bold" charset="1" panose="00000900000000000000"/>
      <p:regular r:id="rId32"/>
    </p:embeddedFont>
    <p:embeddedFont>
      <p:font typeface="Poppins Ultra-Bold Italics" charset="1" panose="00000900000000000000"/>
      <p:regular r:id="rId33"/>
    </p:embeddedFont>
    <p:embeddedFont>
      <p:font typeface="Poppins Heavy" charset="1" panose="00000A00000000000000"/>
      <p:regular r:id="rId34"/>
    </p:embeddedFont>
    <p:embeddedFont>
      <p:font typeface="Poppins Heavy Italics" charset="1" panose="00000A00000000000000"/>
      <p:regular r:id="rId35"/>
    </p:embeddedFont>
    <p:embeddedFont>
      <p:font typeface="Open Sans" charset="1" panose="00000000000000000000"/>
      <p:regular r:id="rId36"/>
    </p:embeddedFont>
    <p:embeddedFont>
      <p:font typeface="Open Sans Bold" charset="1" panose="00000000000000000000"/>
      <p:regular r:id="rId37"/>
    </p:embeddedFont>
    <p:embeddedFont>
      <p:font typeface="Open Sans Italics" charset="1" panose="00000000000000000000"/>
      <p:regular r:id="rId38"/>
    </p:embeddedFont>
    <p:embeddedFont>
      <p:font typeface="Open Sans Bold Italics" charset="1" panose="00000000000000000000"/>
      <p:regular r:id="rId39"/>
    </p:embeddedFont>
    <p:embeddedFont>
      <p:font typeface="Open Sans Light" charset="1" panose="00000000000000000000"/>
      <p:regular r:id="rId40"/>
    </p:embeddedFont>
    <p:embeddedFont>
      <p:font typeface="Open Sans Light Italics" charset="1" panose="00000000000000000000"/>
      <p:regular r:id="rId41"/>
    </p:embeddedFont>
    <p:embeddedFont>
      <p:font typeface="Open Sans Medium" charset="1" panose="00000000000000000000"/>
      <p:regular r:id="rId42"/>
    </p:embeddedFont>
    <p:embeddedFont>
      <p:font typeface="Open Sans Medium Italics" charset="1" panose="00000000000000000000"/>
      <p:regular r:id="rId43"/>
    </p:embeddedFont>
    <p:embeddedFont>
      <p:font typeface="Open Sans Semi-Bold" charset="1" panose="00000000000000000000"/>
      <p:regular r:id="rId44"/>
    </p:embeddedFont>
    <p:embeddedFont>
      <p:font typeface="Open Sans Semi-Bold Italics" charset="1" panose="00000000000000000000"/>
      <p:regular r:id="rId45"/>
    </p:embeddedFont>
    <p:embeddedFont>
      <p:font typeface="Open Sans Ultra-Bold" charset="1" panose="00000000000000000000"/>
      <p:regular r:id="rId46"/>
    </p:embeddedFont>
    <p:embeddedFont>
      <p:font typeface="Open Sans Ultra-Bold Italics" charset="1" panose="00000000000000000000"/>
      <p:regular r:id="rId47"/>
    </p:embeddedFont>
    <p:embeddedFont>
      <p:font typeface="Montserrat" charset="1" panose="00000500000000000000"/>
      <p:regular r:id="rId48"/>
    </p:embeddedFont>
    <p:embeddedFont>
      <p:font typeface="Montserrat Bold" charset="1" panose="00000800000000000000"/>
      <p:regular r:id="rId49"/>
    </p:embeddedFont>
    <p:embeddedFont>
      <p:font typeface="Montserrat Italics" charset="1" panose="00000500000000000000"/>
      <p:regular r:id="rId50"/>
    </p:embeddedFont>
    <p:embeddedFont>
      <p:font typeface="Montserrat Bold Italics" charset="1" panose="00000800000000000000"/>
      <p:regular r:id="rId51"/>
    </p:embeddedFont>
    <p:embeddedFont>
      <p:font typeface="Montserrat Thin" charset="1" panose="00000300000000000000"/>
      <p:regular r:id="rId52"/>
    </p:embeddedFont>
    <p:embeddedFont>
      <p:font typeface="Montserrat Thin Italics" charset="1" panose="00000300000000000000"/>
      <p:regular r:id="rId53"/>
    </p:embeddedFont>
    <p:embeddedFont>
      <p:font typeface="Montserrat Extra-Light" charset="1" panose="00000300000000000000"/>
      <p:regular r:id="rId54"/>
    </p:embeddedFont>
    <p:embeddedFont>
      <p:font typeface="Montserrat Extra-Light Italics" charset="1" panose="00000300000000000000"/>
      <p:regular r:id="rId55"/>
    </p:embeddedFont>
    <p:embeddedFont>
      <p:font typeface="Montserrat Light" charset="1" panose="00000400000000000000"/>
      <p:regular r:id="rId56"/>
    </p:embeddedFont>
    <p:embeddedFont>
      <p:font typeface="Montserrat Light Italics" charset="1" panose="00000400000000000000"/>
      <p:regular r:id="rId57"/>
    </p:embeddedFont>
    <p:embeddedFont>
      <p:font typeface="Montserrat Medium" charset="1" panose="00000600000000000000"/>
      <p:regular r:id="rId58"/>
    </p:embeddedFont>
    <p:embeddedFont>
      <p:font typeface="Montserrat Medium Italics" charset="1" panose="00000600000000000000"/>
      <p:regular r:id="rId59"/>
    </p:embeddedFont>
    <p:embeddedFont>
      <p:font typeface="Montserrat Semi-Bold" charset="1" panose="00000700000000000000"/>
      <p:regular r:id="rId60"/>
    </p:embeddedFont>
    <p:embeddedFont>
      <p:font typeface="Montserrat Semi-Bold Italics" charset="1" panose="00000700000000000000"/>
      <p:regular r:id="rId61"/>
    </p:embeddedFont>
    <p:embeddedFont>
      <p:font typeface="Montserrat Ultra-Bold" charset="1" panose="00000900000000000000"/>
      <p:regular r:id="rId62"/>
    </p:embeddedFont>
    <p:embeddedFont>
      <p:font typeface="Montserrat Ultra-Bold Italics" charset="1" panose="00000900000000000000"/>
      <p:regular r:id="rId63"/>
    </p:embeddedFont>
    <p:embeddedFont>
      <p:font typeface="Montserrat Heavy" charset="1" panose="00000A00000000000000"/>
      <p:regular r:id="rId64"/>
    </p:embeddedFont>
    <p:embeddedFont>
      <p:font typeface="Montserrat Heavy Italics" charset="1" panose="00000A00000000000000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fonts/font6.fntdata" Type="http://schemas.openxmlformats.org/officeDocument/2006/relationships/font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66" Target="slides/slide1.xml" Type="http://schemas.openxmlformats.org/officeDocument/2006/relationships/slide"/><Relationship Id="rId67" Target="slides/slide2.xml" Type="http://schemas.openxmlformats.org/officeDocument/2006/relationships/slide"/><Relationship Id="rId68" Target="slides/slide3.xml" Type="http://schemas.openxmlformats.org/officeDocument/2006/relationships/slide"/><Relationship Id="rId69" Target="slides/slide4.xml" Type="http://schemas.openxmlformats.org/officeDocument/2006/relationships/slide"/><Relationship Id="rId7" Target="fonts/font7.fntdata" Type="http://schemas.openxmlformats.org/officeDocument/2006/relationships/font"/><Relationship Id="rId70" Target="slides/slide5.xml" Type="http://schemas.openxmlformats.org/officeDocument/2006/relationships/slide"/><Relationship Id="rId71" Target="slides/slide6.xml" Type="http://schemas.openxmlformats.org/officeDocument/2006/relationships/slide"/><Relationship Id="rId72" Target="slides/slide7.xml" Type="http://schemas.openxmlformats.org/officeDocument/2006/relationships/slide"/><Relationship Id="rId73" Target="slides/slide8.xml" Type="http://schemas.openxmlformats.org/officeDocument/2006/relationships/slide"/><Relationship Id="rId74" Target="slides/slide9.xml" Type="http://schemas.openxmlformats.org/officeDocument/2006/relationships/slide"/><Relationship Id="rId75" Target="slides/slide10.xml" Type="http://schemas.openxmlformats.org/officeDocument/2006/relationships/slide"/><Relationship Id="rId76" Target="slides/slide11.xml" Type="http://schemas.openxmlformats.org/officeDocument/2006/relationships/slide"/><Relationship Id="rId77" Target="slides/slide12.xml" Type="http://schemas.openxmlformats.org/officeDocument/2006/relationships/slide"/><Relationship Id="rId78" Target="slides/slide13.xml" Type="http://schemas.openxmlformats.org/officeDocument/2006/relationships/slide"/><Relationship Id="rId79" Target="slides/slide14.xml" Type="http://schemas.openxmlformats.org/officeDocument/2006/relationships/slide"/><Relationship Id="rId8" Target="fonts/font8.fntdata" Type="http://schemas.openxmlformats.org/officeDocument/2006/relationships/font"/><Relationship Id="rId80" Target="slides/slide15.xml" Type="http://schemas.openxmlformats.org/officeDocument/2006/relationships/slide"/><Relationship Id="rId81" Target="slides/slide16.xml" Type="http://schemas.openxmlformats.org/officeDocument/2006/relationships/slide"/><Relationship Id="rId82" Target="slides/slide17.xml" Type="http://schemas.openxmlformats.org/officeDocument/2006/relationships/slide"/><Relationship Id="rId83" Target="slides/slide18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7502" y="5590237"/>
            <a:ext cx="14099416" cy="140994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12540" y="1982310"/>
            <a:ext cx="8015383" cy="318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19"/>
              </a:lnSpc>
              <a:spcBef>
                <a:spcPct val="0"/>
              </a:spcBef>
            </a:pPr>
            <a:r>
              <a:rPr lang="en-US" sz="9156">
                <a:solidFill>
                  <a:srgbClr val="051D40"/>
                </a:solidFill>
                <a:latin typeface="Open Sans Extra Bold"/>
              </a:rPr>
              <a:t>Projet Robotique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287172" y="-1757180"/>
            <a:ext cx="3514361" cy="35143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076757" y="-643475"/>
            <a:ext cx="1286950" cy="128695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929195" y="8389571"/>
            <a:ext cx="3735531" cy="373553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757394" y="7522582"/>
            <a:ext cx="8779632" cy="1733977"/>
          </a:xfrm>
          <a:custGeom>
            <a:avLst/>
            <a:gdLst/>
            <a:ahLst/>
            <a:cxnLst/>
            <a:rect r="r" b="b" t="t" l="l"/>
            <a:pathLst>
              <a:path h="1733977" w="8779632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-463996" y="8691634"/>
            <a:ext cx="9081506" cy="1801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2553" spc="-51">
                <a:solidFill>
                  <a:srgbClr val="051D40"/>
                </a:solidFill>
                <a:latin typeface="Poppins Bold"/>
              </a:rPr>
              <a:t>Par: </a:t>
            </a:r>
            <a:r>
              <a:rPr lang="en-US" sz="2553" spc="-51">
                <a:solidFill>
                  <a:srgbClr val="051D40"/>
                </a:solidFill>
                <a:latin typeface="Poppins"/>
              </a:rPr>
              <a:t>Rayan.A</a:t>
            </a:r>
            <a:r>
              <a:rPr lang="en-US" sz="2553" spc="-51">
                <a:solidFill>
                  <a:srgbClr val="051D40"/>
                </a:solidFill>
                <a:latin typeface="Poppins Bold"/>
              </a:rPr>
              <a:t> ;</a:t>
            </a:r>
            <a:r>
              <a:rPr lang="en-US" sz="2553" spc="-51">
                <a:solidFill>
                  <a:srgbClr val="051D40"/>
                </a:solidFill>
                <a:latin typeface="Poppins"/>
              </a:rPr>
              <a:t> Greg.A </a:t>
            </a:r>
            <a:r>
              <a:rPr lang="en-US" sz="2553" spc="-51">
                <a:solidFill>
                  <a:srgbClr val="051D40"/>
                </a:solidFill>
                <a:latin typeface="Poppins Bold"/>
              </a:rPr>
              <a:t>; </a:t>
            </a:r>
            <a:r>
              <a:rPr lang="en-US" sz="2553" spc="-51">
                <a:solidFill>
                  <a:srgbClr val="051D40"/>
                </a:solidFill>
                <a:latin typeface="Poppins"/>
              </a:rPr>
              <a:t>Abir.C</a:t>
            </a:r>
          </a:p>
          <a:p>
            <a:pPr algn="ctr">
              <a:lnSpc>
                <a:spcPts val="3575"/>
              </a:lnSpc>
            </a:pPr>
            <a:r>
              <a:rPr lang="en-US" sz="2553" spc="-51">
                <a:solidFill>
                  <a:srgbClr val="051D40"/>
                </a:solidFill>
                <a:latin typeface="Poppins"/>
              </a:rPr>
              <a:t>Sarah.D </a:t>
            </a:r>
            <a:r>
              <a:rPr lang="en-US" sz="2553" spc="-51">
                <a:solidFill>
                  <a:srgbClr val="051D40"/>
                </a:solidFill>
                <a:latin typeface="Poppins Bold"/>
              </a:rPr>
              <a:t>;</a:t>
            </a:r>
            <a:r>
              <a:rPr lang="en-US" sz="2553" spc="-51">
                <a:solidFill>
                  <a:srgbClr val="051D40"/>
                </a:solidFill>
                <a:latin typeface="Poppins"/>
              </a:rPr>
              <a:t> Fatou.D</a:t>
            </a:r>
            <a:r>
              <a:rPr lang="en-US" sz="2553" spc="-51">
                <a:solidFill>
                  <a:srgbClr val="051D40"/>
                </a:solidFill>
                <a:latin typeface="Poppins Bold"/>
              </a:rPr>
              <a:t> ; </a:t>
            </a:r>
            <a:r>
              <a:rPr lang="en-US" sz="2553" spc="-51">
                <a:solidFill>
                  <a:srgbClr val="051D40"/>
                </a:solidFill>
                <a:latin typeface="Poppins"/>
              </a:rPr>
              <a:t> Sarah.I</a:t>
            </a:r>
          </a:p>
          <a:p>
            <a:pPr algn="ctr">
              <a:lnSpc>
                <a:spcPts val="3575"/>
              </a:lnSpc>
            </a:pPr>
            <a:r>
              <a:rPr lang="en-US" sz="2553" spc="-51">
                <a:solidFill>
                  <a:srgbClr val="051D40"/>
                </a:solidFill>
                <a:latin typeface="Poppins"/>
              </a:rPr>
              <a:t>Hugo.L</a:t>
            </a:r>
            <a:r>
              <a:rPr lang="en-US" sz="2553" spc="-51">
                <a:solidFill>
                  <a:srgbClr val="051D40"/>
                </a:solidFill>
                <a:latin typeface="Poppins Bold"/>
              </a:rPr>
              <a:t> ;</a:t>
            </a:r>
            <a:r>
              <a:rPr lang="en-US" sz="2553" spc="-51">
                <a:solidFill>
                  <a:srgbClr val="051D40"/>
                </a:solidFill>
                <a:latin typeface="Poppins"/>
              </a:rPr>
              <a:t> Toudja.S</a:t>
            </a:r>
          </a:p>
          <a:p>
            <a:pPr algn="ctr">
              <a:lnSpc>
                <a:spcPts val="3575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8757394" y="2858017"/>
            <a:ext cx="9146584" cy="5246370"/>
            <a:chOff x="0" y="0"/>
            <a:chExt cx="7981950" cy="45783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-12275" t="0" r="-12275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8044352" y="504775"/>
            <a:ext cx="7298802" cy="5995795"/>
          </a:xfrm>
          <a:custGeom>
            <a:avLst/>
            <a:gdLst/>
            <a:ahLst/>
            <a:cxnLst/>
            <a:rect r="r" b="b" t="t" l="l"/>
            <a:pathLst>
              <a:path h="5995795" w="7298802">
                <a:moveTo>
                  <a:pt x="0" y="0"/>
                </a:moveTo>
                <a:lnTo>
                  <a:pt x="7298803" y="0"/>
                </a:lnTo>
                <a:lnTo>
                  <a:pt x="7298803" y="5995795"/>
                </a:lnTo>
                <a:lnTo>
                  <a:pt x="0" y="5995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879089" y="-110154"/>
            <a:ext cx="5370850" cy="1867334"/>
          </a:xfrm>
          <a:custGeom>
            <a:avLst/>
            <a:gdLst/>
            <a:ahLst/>
            <a:cxnLst/>
            <a:rect r="r" b="b" t="t" l="l"/>
            <a:pathLst>
              <a:path h="1867334" w="5370850">
                <a:moveTo>
                  <a:pt x="0" y="0"/>
                </a:moveTo>
                <a:lnTo>
                  <a:pt x="5370850" y="0"/>
                </a:lnTo>
                <a:lnTo>
                  <a:pt x="5370850" y="1867334"/>
                </a:lnTo>
                <a:lnTo>
                  <a:pt x="0" y="18673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8952" r="0" b="-33579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7814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63160" y="1641132"/>
            <a:ext cx="6760246" cy="124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lang="en-US" sz="7320">
                <a:solidFill>
                  <a:srgbClr val="051D40"/>
                </a:solidFill>
                <a:latin typeface="Open Sans Extra Bold"/>
              </a:rPr>
              <a:t>SOMMAIRE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867766" y="-1614217"/>
            <a:ext cx="3735531" cy="373553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2912435" y="3472452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531506" y="1769180"/>
            <a:ext cx="5972616" cy="6748639"/>
          </a:xfrm>
          <a:custGeom>
            <a:avLst/>
            <a:gdLst/>
            <a:ahLst/>
            <a:cxnLst/>
            <a:rect r="r" b="b" t="t" l="l"/>
            <a:pathLst>
              <a:path h="6748639" w="5972616">
                <a:moveTo>
                  <a:pt x="0" y="0"/>
                </a:moveTo>
                <a:lnTo>
                  <a:pt x="5972617" y="0"/>
                </a:lnTo>
                <a:lnTo>
                  <a:pt x="5972617" y="6748640"/>
                </a:lnTo>
                <a:lnTo>
                  <a:pt x="0" y="674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75" t="0" r="-8775" b="-3917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63160" y="3397227"/>
            <a:ext cx="3773019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Introduction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83149" y="3397227"/>
            <a:ext cx="660851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03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400000">
            <a:off x="2912435" y="4097959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63160" y="4022734"/>
            <a:ext cx="4143021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Stratégie Globale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5400000">
            <a:off x="2912435" y="4723196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663160" y="4647971"/>
            <a:ext cx="4652520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Robot Arduino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83149" y="4647971"/>
            <a:ext cx="660851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05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5400000">
            <a:off x="2912435" y="5348703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663160" y="5273478"/>
            <a:ext cx="4397771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Capteurs du robot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83149" y="4062032"/>
            <a:ext cx="660851" cy="5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04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5400000">
            <a:off x="2912435" y="5973940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663160" y="5898715"/>
            <a:ext cx="4579735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Robot coccinelle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83149" y="5898715"/>
            <a:ext cx="660851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10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5400000">
            <a:off x="2912435" y="6599447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663160" y="6524221"/>
            <a:ext cx="4397771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Première rencontre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83149" y="5312775"/>
            <a:ext cx="660851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08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5400000">
            <a:off x="2912435" y="7224684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663160" y="7149458"/>
            <a:ext cx="4579735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Pince du robot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483149" y="7149458"/>
            <a:ext cx="660851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16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5400000">
            <a:off x="2912435" y="7850190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663160" y="7774965"/>
            <a:ext cx="4397771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Conclusion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483149" y="6524221"/>
            <a:ext cx="660851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14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83149" y="7734172"/>
            <a:ext cx="660851" cy="5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</a:rPr>
              <a:t>18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812083" y="9598040"/>
            <a:ext cx="283035" cy="68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Canva San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5143500"/>
          </a:xfrm>
          <a:custGeom>
            <a:avLst/>
            <a:gdLst/>
            <a:ahLst/>
            <a:cxnLst/>
            <a:rect r="r" b="b" t="t" l="l"/>
            <a:pathLst>
              <a:path h="5143500" w="18288000">
                <a:moveTo>
                  <a:pt x="0" y="0"/>
                </a:moveTo>
                <a:lnTo>
                  <a:pt x="18288000" y="0"/>
                </a:lnTo>
                <a:lnTo>
                  <a:pt x="18288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000" r="0" b="-50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88217" y="9258300"/>
            <a:ext cx="18476217" cy="1028700"/>
            <a:chOff x="0" y="0"/>
            <a:chExt cx="4866164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66164" cy="270933"/>
            </a:xfrm>
            <a:custGeom>
              <a:avLst/>
              <a:gdLst/>
              <a:ahLst/>
              <a:cxnLst/>
              <a:rect r="r" b="b" t="t" l="l"/>
              <a:pathLst>
                <a:path h="270933" w="4866164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30F10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66164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367558" y="2590556"/>
            <a:ext cx="11552885" cy="5105887"/>
            <a:chOff x="0" y="0"/>
            <a:chExt cx="3042735" cy="1344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2735" cy="1344760"/>
            </a:xfrm>
            <a:custGeom>
              <a:avLst/>
              <a:gdLst/>
              <a:ahLst/>
              <a:cxnLst/>
              <a:rect r="r" b="b" t="t" l="l"/>
              <a:pathLst>
                <a:path h="1344760" w="3042735">
                  <a:moveTo>
                    <a:pt x="0" y="0"/>
                  </a:moveTo>
                  <a:lnTo>
                    <a:pt x="3042735" y="0"/>
                  </a:lnTo>
                  <a:lnTo>
                    <a:pt x="3042735" y="1344760"/>
                  </a:lnTo>
                  <a:lnTo>
                    <a:pt x="0" y="1344760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42735" cy="1382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269838" y="2903493"/>
            <a:ext cx="5748323" cy="99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95"/>
              </a:lnSpc>
              <a:spcBef>
                <a:spcPct val="0"/>
              </a:spcBef>
            </a:pPr>
            <a:r>
              <a:rPr lang="en-US" sz="5854">
                <a:solidFill>
                  <a:srgbClr val="FDFDFD"/>
                </a:solidFill>
                <a:latin typeface="Open Sans Extra Bold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96755" y="4236467"/>
            <a:ext cx="10494490" cy="328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8"/>
              </a:lnSpc>
              <a:spcBef>
                <a:spcPct val="0"/>
              </a:spcBef>
            </a:pPr>
          </a:p>
          <a:p>
            <a:pPr algn="ctr">
              <a:lnSpc>
                <a:spcPts val="3288"/>
              </a:lnSpc>
              <a:spcBef>
                <a:spcPct val="0"/>
              </a:spcBef>
            </a:pPr>
            <a:r>
              <a:rPr lang="en-US" sz="2348" spc="-46">
                <a:solidFill>
                  <a:srgbClr val="FDFDFD"/>
                </a:solidFill>
                <a:latin typeface="Open Sans Extra Bold"/>
              </a:rPr>
              <a:t>Objectif : Maintien du bon fonctionnement de la serre autonome sur Mars.</a:t>
            </a:r>
          </a:p>
          <a:p>
            <a:pPr algn="l">
              <a:lnSpc>
                <a:spcPts val="3288"/>
              </a:lnSpc>
            </a:pPr>
            <a:r>
              <a:rPr lang="en-US" sz="2348" spc="-46">
                <a:solidFill>
                  <a:srgbClr val="FDFDFD"/>
                </a:solidFill>
                <a:latin typeface="Open Sans Extra Bold"/>
              </a:rPr>
              <a:t>    </a:t>
            </a:r>
            <a:r>
              <a:rPr lang="en-US" sz="2348" spc="-46">
                <a:solidFill>
                  <a:srgbClr val="FDFDFD"/>
                </a:solidFill>
                <a:latin typeface="Open Sans Extra Bold"/>
              </a:rPr>
              <a:t>Tâches essentielles du robot :</a:t>
            </a:r>
          </a:p>
          <a:p>
            <a:pPr algn="ctr">
              <a:lnSpc>
                <a:spcPts val="3288"/>
              </a:lnSpc>
            </a:pPr>
            <a:r>
              <a:rPr lang="en-US" sz="2348" spc="-46">
                <a:solidFill>
                  <a:srgbClr val="FDFDFD"/>
                </a:solidFill>
                <a:latin typeface="Open Sans"/>
              </a:rPr>
              <a:t>    1. Empoter et cultiver les plantes.</a:t>
            </a:r>
          </a:p>
          <a:p>
            <a:pPr algn="ctr">
              <a:lnSpc>
                <a:spcPts val="3288"/>
              </a:lnSpc>
            </a:pPr>
            <a:r>
              <a:rPr lang="en-US" sz="2348" spc="-46">
                <a:solidFill>
                  <a:srgbClr val="FDFDFD"/>
                </a:solidFill>
                <a:latin typeface="Open Sans"/>
              </a:rPr>
              <a:t>     2. Orienter les panneaux solaires.</a:t>
            </a:r>
          </a:p>
          <a:p>
            <a:pPr algn="ctr">
              <a:lnSpc>
                <a:spcPts val="3288"/>
              </a:lnSpc>
            </a:pPr>
            <a:r>
              <a:rPr lang="en-US" sz="2348" spc="-46">
                <a:solidFill>
                  <a:srgbClr val="FDFDFD"/>
                </a:solidFill>
                <a:latin typeface="Open Sans"/>
              </a:rPr>
              <a:t>            3. Assurer la pollinisation des plantes</a:t>
            </a:r>
          </a:p>
          <a:p>
            <a:pPr algn="l">
              <a:lnSpc>
                <a:spcPts val="3288"/>
              </a:lnSpc>
            </a:pPr>
            <a:r>
              <a:rPr lang="en-US" sz="2348" spc="-46">
                <a:solidFill>
                  <a:srgbClr val="FDFDFD"/>
                </a:solidFill>
                <a:latin typeface="Open Sans"/>
              </a:rPr>
              <a:t>                                             </a:t>
            </a:r>
            <a:r>
              <a:rPr lang="en-US" sz="2348" spc="-46">
                <a:solidFill>
                  <a:srgbClr val="FDFDFD"/>
                </a:solidFill>
                <a:latin typeface="Open Sans"/>
              </a:rPr>
              <a:t>4. Recharger les batteries.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17502" y="9385307"/>
            <a:ext cx="300163" cy="68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Canva Sa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06782" y="1748145"/>
            <a:ext cx="10344429" cy="5194950"/>
          </a:xfrm>
          <a:custGeom>
            <a:avLst/>
            <a:gdLst/>
            <a:ahLst/>
            <a:cxnLst/>
            <a:rect r="r" b="b" t="t" l="l"/>
            <a:pathLst>
              <a:path h="5194950" w="10344429">
                <a:moveTo>
                  <a:pt x="0" y="0"/>
                </a:moveTo>
                <a:lnTo>
                  <a:pt x="10344429" y="0"/>
                </a:lnTo>
                <a:lnTo>
                  <a:pt x="10344429" y="5194950"/>
                </a:lnTo>
                <a:lnTo>
                  <a:pt x="0" y="519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716" r="0" b="-57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04688" y="-2374636"/>
            <a:ext cx="4693046" cy="469304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439831" y="7356594"/>
            <a:ext cx="24305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10439831" y="8200314"/>
            <a:ext cx="24305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10439831" y="8954673"/>
            <a:ext cx="24305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11655084" y="9723191"/>
            <a:ext cx="24305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11224" y="2626239"/>
            <a:ext cx="6188672" cy="7660761"/>
            <a:chOff x="0" y="0"/>
            <a:chExt cx="660400" cy="8174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817488"/>
            </a:xfrm>
            <a:custGeom>
              <a:avLst/>
              <a:gdLst/>
              <a:ahLst/>
              <a:cxnLst/>
              <a:rect r="r" b="b" t="t" l="l"/>
              <a:pathLst>
                <a:path h="81748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606"/>
                  </a:cubicBezTo>
                  <a:lnTo>
                    <a:pt x="660400" y="817488"/>
                  </a:lnTo>
                  <a:lnTo>
                    <a:pt x="0" y="817488"/>
                  </a:lnTo>
                  <a:lnTo>
                    <a:pt x="0" y="32896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8900"/>
              <a:ext cx="660400" cy="728588"/>
            </a:xfrm>
            <a:prstGeom prst="rect">
              <a:avLst/>
            </a:prstGeom>
          </p:spPr>
          <p:txBody>
            <a:bodyPr anchor="ctr" rtlCol="false" tIns="44786" lIns="44786" bIns="44786" rIns="447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233577" y="2840590"/>
            <a:ext cx="5527971" cy="5527971"/>
            <a:chOff x="0" y="0"/>
            <a:chExt cx="8916670" cy="89166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8903970" cy="8903970"/>
            </a:xfrm>
            <a:custGeom>
              <a:avLst/>
              <a:gdLst/>
              <a:ahLst/>
              <a:cxnLst/>
              <a:rect r="r" b="b" t="t" l="l"/>
              <a:pathLst>
                <a:path h="8903970" w="8903970">
                  <a:moveTo>
                    <a:pt x="4451350" y="8903970"/>
                  </a:moveTo>
                  <a:cubicBezTo>
                    <a:pt x="1997710" y="8903970"/>
                    <a:pt x="0" y="6906260"/>
                    <a:pt x="0" y="4451350"/>
                  </a:cubicBezTo>
                  <a:cubicBezTo>
                    <a:pt x="0" y="1996440"/>
                    <a:pt x="1997710" y="0"/>
                    <a:pt x="4451350" y="0"/>
                  </a:cubicBezTo>
                  <a:cubicBezTo>
                    <a:pt x="6904990" y="0"/>
                    <a:pt x="8903970" y="1997710"/>
                    <a:pt x="8903970" y="4451350"/>
                  </a:cubicBezTo>
                  <a:cubicBezTo>
                    <a:pt x="8903970" y="6904990"/>
                    <a:pt x="6906260" y="8903970"/>
                    <a:pt x="4451350" y="8903970"/>
                  </a:cubicBezTo>
                  <a:close/>
                  <a:moveTo>
                    <a:pt x="4451350" y="19050"/>
                  </a:moveTo>
                  <a:cubicBezTo>
                    <a:pt x="2007870" y="19050"/>
                    <a:pt x="19050" y="2007870"/>
                    <a:pt x="19050" y="4451350"/>
                  </a:cubicBezTo>
                  <a:cubicBezTo>
                    <a:pt x="19050" y="6894830"/>
                    <a:pt x="2007870" y="8883650"/>
                    <a:pt x="4451350" y="8883650"/>
                  </a:cubicBezTo>
                  <a:cubicBezTo>
                    <a:pt x="6894830" y="8883650"/>
                    <a:pt x="8883650" y="6894830"/>
                    <a:pt x="8883650" y="4451350"/>
                  </a:cubicBezTo>
                  <a:cubicBezTo>
                    <a:pt x="8883650" y="2007870"/>
                    <a:pt x="6896100" y="19050"/>
                    <a:pt x="4451350" y="1905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4940" y="154940"/>
              <a:ext cx="8605520" cy="8605520"/>
            </a:xfrm>
            <a:custGeom>
              <a:avLst/>
              <a:gdLst/>
              <a:ahLst/>
              <a:cxnLst/>
              <a:rect r="r" b="b" t="t" l="l"/>
              <a:pathLst>
                <a:path h="8605520" w="8605520">
                  <a:moveTo>
                    <a:pt x="8605520" y="4302760"/>
                  </a:moveTo>
                  <a:cubicBezTo>
                    <a:pt x="8605520" y="6678930"/>
                    <a:pt x="6678930" y="8605520"/>
                    <a:pt x="4302760" y="8605520"/>
                  </a:cubicBezTo>
                  <a:cubicBezTo>
                    <a:pt x="1926590" y="8605520"/>
                    <a:pt x="0" y="6680200"/>
                    <a:pt x="0" y="4302760"/>
                  </a:cubicBezTo>
                  <a:cubicBezTo>
                    <a:pt x="0" y="1925320"/>
                    <a:pt x="1926590" y="0"/>
                    <a:pt x="4302760" y="0"/>
                  </a:cubicBezTo>
                  <a:cubicBezTo>
                    <a:pt x="6678930" y="0"/>
                    <a:pt x="8605520" y="1926590"/>
                    <a:pt x="8605520" y="4302760"/>
                  </a:cubicBezTo>
                  <a:close/>
                </a:path>
              </a:pathLst>
            </a:custGeom>
            <a:blipFill>
              <a:blip r:embed="rId3"/>
              <a:stretch>
                <a:fillRect l="-1177" t="0" r="-117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57746" y="8550796"/>
            <a:ext cx="5311977" cy="186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9"/>
              </a:lnSpc>
            </a:pPr>
          </a:p>
          <a:p>
            <a:pPr algn="ctr">
              <a:lnSpc>
                <a:spcPts val="3275"/>
              </a:lnSpc>
            </a:pPr>
            <a:r>
              <a:rPr lang="en-US" sz="2126" spc="-19" strike="noStrike" u="none">
                <a:solidFill>
                  <a:srgbClr val="FFFFFF"/>
                </a:solidFill>
                <a:latin typeface="Poppins"/>
              </a:rPr>
              <a:t>Recherche d'objectifs réalistes</a:t>
            </a:r>
          </a:p>
          <a:p>
            <a:pPr algn="ctr">
              <a:lnSpc>
                <a:spcPts val="3275"/>
              </a:lnSpc>
            </a:pPr>
          </a:p>
          <a:p>
            <a:pPr algn="ctr">
              <a:lnSpc>
                <a:spcPts val="3275"/>
              </a:lnSpc>
            </a:pPr>
            <a:r>
              <a:rPr lang="en-US" sz="2126" spc="-19" strike="noStrike" u="none">
                <a:solidFill>
                  <a:srgbClr val="FFFFFF"/>
                </a:solidFill>
                <a:latin typeface="Poppins"/>
              </a:rPr>
              <a:t>Répartition des tâches​</a:t>
            </a:r>
          </a:p>
          <a:p>
            <a:pPr algn="l">
              <a:lnSpc>
                <a:spcPts val="216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403819" y="515018"/>
            <a:ext cx="9575128" cy="82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  <a:spcBef>
                <a:spcPct val="0"/>
              </a:spcBef>
            </a:pPr>
            <a:r>
              <a:rPr lang="en-US" sz="4900">
                <a:solidFill>
                  <a:srgbClr val="145DA0"/>
                </a:solidFill>
                <a:latin typeface="Open Sans Extra Bold"/>
              </a:rPr>
              <a:t> Stratégie d’un match parfait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10961" y="9477855"/>
            <a:ext cx="2533565" cy="413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464">
                <a:solidFill>
                  <a:srgbClr val="000000"/>
                </a:solidFill>
                <a:latin typeface="Open Sans"/>
              </a:rPr>
              <a:t>plante (5 pts)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31873" y="7102622"/>
            <a:ext cx="1861245" cy="42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</a:rPr>
              <a:t>  1: </a:t>
            </a:r>
            <a:r>
              <a:rPr lang="en-US" sz="2499">
                <a:solidFill>
                  <a:srgbClr val="000000"/>
                </a:solidFill>
                <a:latin typeface="Open Sans"/>
              </a:rPr>
              <a:t>Tourner  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34631" y="7102622"/>
            <a:ext cx="4458960" cy="42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</a:rPr>
              <a:t>  6 panneaux solaires (30 pts)​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31873" y="7891313"/>
            <a:ext cx="2252716" cy="42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</a:rPr>
              <a:t>  2: Récupérer  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31873" y="8700672"/>
            <a:ext cx="1861245" cy="42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</a:rPr>
              <a:t>  3: </a:t>
            </a:r>
            <a:r>
              <a:rPr lang="en-US" sz="2499">
                <a:solidFill>
                  <a:srgbClr val="000000"/>
                </a:solidFill>
                <a:latin typeface="Open Sans"/>
              </a:rPr>
              <a:t>Plante     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31873" y="9469219"/>
            <a:ext cx="3823212" cy="42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2499">
                <a:solidFill>
                  <a:srgbClr val="000000"/>
                </a:solidFill>
                <a:latin typeface="Open Sans"/>
              </a:rPr>
              <a:t> 4: Coccinelle en contact   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13288" y="7946342"/>
            <a:ext cx="2282281" cy="42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</a:rPr>
              <a:t>plante ​​(3 pts)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34631" y="8719750"/>
            <a:ext cx="3231237" cy="42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</a:rPr>
              <a:t> zone de dépôt (5 pts)​​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95581" y="9598040"/>
            <a:ext cx="316038" cy="68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569E"/>
                </a:solidFill>
                <a:latin typeface="Canva Sans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914" r="0" b="-689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990215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2832861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61529" y="2937389"/>
            <a:ext cx="12164941" cy="4412223"/>
            <a:chOff x="0" y="0"/>
            <a:chExt cx="3203935" cy="11620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3935" cy="1162067"/>
            </a:xfrm>
            <a:custGeom>
              <a:avLst/>
              <a:gdLst/>
              <a:ahLst/>
              <a:cxnLst/>
              <a:rect r="r" b="b" t="t" l="l"/>
              <a:pathLst>
                <a:path h="1162067" w="3203935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32775" y="3067155"/>
            <a:ext cx="11622449" cy="393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761"/>
              </a:lnSpc>
              <a:spcBef>
                <a:spcPct val="0"/>
              </a:spcBef>
            </a:pPr>
            <a:r>
              <a:rPr lang="en-US" sz="11258">
                <a:solidFill>
                  <a:srgbClr val="FFFFFF"/>
                </a:solidFill>
                <a:latin typeface="Open Sans Extra Bold"/>
              </a:rPr>
              <a:t>ROBOT ARDUINO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16214" y="9338250"/>
            <a:ext cx="297656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ns Extra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204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24860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13997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213997" y="3298645"/>
            <a:ext cx="5841799" cy="5146658"/>
            <a:chOff x="0" y="0"/>
            <a:chExt cx="1554321" cy="13693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24860" y="3298645"/>
            <a:ext cx="5841799" cy="5146658"/>
            <a:chOff x="0" y="0"/>
            <a:chExt cx="1554321" cy="13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2204" y="3298645"/>
            <a:ext cx="5841799" cy="5146658"/>
            <a:chOff x="0" y="0"/>
            <a:chExt cx="1554321" cy="13693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4604" y="3447950"/>
            <a:ext cx="5570690" cy="3639219"/>
            <a:chOff x="0" y="0"/>
            <a:chExt cx="11289030" cy="73748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87760" cy="7374896"/>
            </a:xfrm>
            <a:custGeom>
              <a:avLst/>
              <a:gdLst/>
              <a:ahLst/>
              <a:cxnLst/>
              <a:rect r="r" b="b" t="t" l="l"/>
              <a:pathLst>
                <a:path h="7374896" w="11287760">
                  <a:moveTo>
                    <a:pt x="0" y="6764254"/>
                  </a:moveTo>
                  <a:lnTo>
                    <a:pt x="0" y="610641"/>
                  </a:lnTo>
                  <a:cubicBezTo>
                    <a:pt x="0" y="272871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72871"/>
                    <a:pt x="11287760" y="610641"/>
                  </a:cubicBezTo>
                  <a:lnTo>
                    <a:pt x="11287760" y="6762779"/>
                  </a:lnTo>
                  <a:cubicBezTo>
                    <a:pt x="11287760" y="7100550"/>
                    <a:pt x="11052810" y="7373420"/>
                    <a:pt x="10761980" y="7373420"/>
                  </a:cubicBezTo>
                  <a:lnTo>
                    <a:pt x="525780" y="7373420"/>
                  </a:lnTo>
                  <a:cubicBezTo>
                    <a:pt x="236220" y="7374896"/>
                    <a:pt x="0" y="7102024"/>
                    <a:pt x="0" y="6764254"/>
                  </a:cubicBezTo>
                  <a:close/>
                </a:path>
              </a:pathLst>
            </a:custGeom>
            <a:blipFill>
              <a:blip r:embed="rId3"/>
              <a:stretch>
                <a:fillRect l="0" t="-997" r="0" b="-99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358655" y="3447950"/>
            <a:ext cx="5570690" cy="3639219"/>
            <a:chOff x="0" y="0"/>
            <a:chExt cx="11289030" cy="73748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87760" cy="7374896"/>
            </a:xfrm>
            <a:custGeom>
              <a:avLst/>
              <a:gdLst/>
              <a:ahLst/>
              <a:cxnLst/>
              <a:rect r="r" b="b" t="t" l="l"/>
              <a:pathLst>
                <a:path h="7374896" w="11287760">
                  <a:moveTo>
                    <a:pt x="0" y="6764254"/>
                  </a:moveTo>
                  <a:lnTo>
                    <a:pt x="0" y="610641"/>
                  </a:lnTo>
                  <a:cubicBezTo>
                    <a:pt x="0" y="272871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72871"/>
                    <a:pt x="11287760" y="610641"/>
                  </a:cubicBezTo>
                  <a:lnTo>
                    <a:pt x="11287760" y="6762779"/>
                  </a:lnTo>
                  <a:cubicBezTo>
                    <a:pt x="11287760" y="7100550"/>
                    <a:pt x="11052810" y="7373420"/>
                    <a:pt x="10761980" y="7373420"/>
                  </a:cubicBezTo>
                  <a:lnTo>
                    <a:pt x="525780" y="7373420"/>
                  </a:lnTo>
                  <a:cubicBezTo>
                    <a:pt x="236220" y="7374896"/>
                    <a:pt x="0" y="7102024"/>
                    <a:pt x="0" y="6764254"/>
                  </a:cubicBezTo>
                  <a:close/>
                </a:path>
              </a:pathLst>
            </a:custGeom>
            <a:blipFill>
              <a:blip r:embed="rId4"/>
              <a:stretch>
                <a:fillRect l="-4009" t="0" r="-4009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349552" y="3446286"/>
            <a:ext cx="5570690" cy="3640883"/>
            <a:chOff x="0" y="0"/>
            <a:chExt cx="11289030" cy="73782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87760" cy="7378267"/>
            </a:xfrm>
            <a:custGeom>
              <a:avLst/>
              <a:gdLst/>
              <a:ahLst/>
              <a:cxnLst/>
              <a:rect r="r" b="b" t="t" l="l"/>
              <a:pathLst>
                <a:path h="7378267" w="11287760">
                  <a:moveTo>
                    <a:pt x="0" y="6767347"/>
                  </a:moveTo>
                  <a:lnTo>
                    <a:pt x="0" y="610921"/>
                  </a:lnTo>
                  <a:cubicBezTo>
                    <a:pt x="0" y="272996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72996"/>
                    <a:pt x="11287760" y="610921"/>
                  </a:cubicBezTo>
                  <a:lnTo>
                    <a:pt x="11287760" y="6765871"/>
                  </a:lnTo>
                  <a:cubicBezTo>
                    <a:pt x="11287760" y="7103795"/>
                    <a:pt x="11052810" y="7376792"/>
                    <a:pt x="10761980" y="7376792"/>
                  </a:cubicBezTo>
                  <a:lnTo>
                    <a:pt x="525780" y="7376792"/>
                  </a:lnTo>
                  <a:cubicBezTo>
                    <a:pt x="236220" y="7378267"/>
                    <a:pt x="0" y="7105271"/>
                    <a:pt x="0" y="6767347"/>
                  </a:cubicBezTo>
                  <a:close/>
                </a:path>
              </a:pathLst>
            </a:custGeom>
            <a:blipFill>
              <a:blip r:embed="rId5"/>
              <a:stretch>
                <a:fillRect l="0" t="-26508" r="0" b="-26508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417025" y="1886201"/>
            <a:ext cx="7453950" cy="96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91"/>
              </a:lnSpc>
              <a:spcBef>
                <a:spcPct val="0"/>
              </a:spcBef>
            </a:pPr>
            <a:r>
              <a:rPr lang="en-US" sz="5708">
                <a:solidFill>
                  <a:srgbClr val="FDFDFD"/>
                </a:solidFill>
                <a:latin typeface="Open Sans Extra Bold"/>
              </a:rPr>
              <a:t>Matériels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83616" y="7287194"/>
            <a:ext cx="3383582" cy="106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3086">
                <a:solidFill>
                  <a:srgbClr val="00569E"/>
                </a:solidFill>
                <a:latin typeface="Open Sans Extra Bold"/>
              </a:rPr>
              <a:t>1- Roues et moteurs EMG30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64829" y="7287194"/>
            <a:ext cx="3961862" cy="106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3086">
                <a:solidFill>
                  <a:srgbClr val="00569E"/>
                </a:solidFill>
                <a:latin typeface="Open Sans Extra Bold"/>
              </a:rPr>
              <a:t>2- Module de commande MD25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96193" y="7287194"/>
            <a:ext cx="2877407" cy="106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3086">
                <a:solidFill>
                  <a:srgbClr val="00569E"/>
                </a:solidFill>
                <a:latin typeface="Open Sans Extra Bold"/>
              </a:rPr>
              <a:t>3-Carte Arduino UNO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788897" y="9598040"/>
            <a:ext cx="329406" cy="68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Canva San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FEFEFE"/>
            </a:solidFill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323305" y="1943057"/>
            <a:ext cx="13641389" cy="7792686"/>
          </a:xfrm>
          <a:custGeom>
            <a:avLst/>
            <a:gdLst/>
            <a:ahLst/>
            <a:cxnLst/>
            <a:rect r="r" b="b" t="t" l="l"/>
            <a:pathLst>
              <a:path h="7792686" w="13641389">
                <a:moveTo>
                  <a:pt x="0" y="0"/>
                </a:moveTo>
                <a:lnTo>
                  <a:pt x="13641390" y="0"/>
                </a:lnTo>
                <a:lnTo>
                  <a:pt x="13641390" y="7792686"/>
                </a:lnTo>
                <a:lnTo>
                  <a:pt x="0" y="7792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914400"/>
            <a:ext cx="7884841" cy="102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569E"/>
                </a:solidFill>
                <a:latin typeface="Open Sans Extra Bold"/>
              </a:rPr>
              <a:t>Architecture 3D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056306"/>
            <a:ext cx="297656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569E"/>
                </a:solidFill>
                <a:latin typeface="Open Sans Extra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914" r="0" b="-689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990215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2832861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61529" y="2937389"/>
            <a:ext cx="12164941" cy="4412223"/>
            <a:chOff x="0" y="0"/>
            <a:chExt cx="3203935" cy="11620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3935" cy="1162067"/>
            </a:xfrm>
            <a:custGeom>
              <a:avLst/>
              <a:gdLst/>
              <a:ahLst/>
              <a:cxnLst/>
              <a:rect r="r" b="b" t="t" l="l"/>
              <a:pathLst>
                <a:path h="1162067" w="3203935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32775" y="4067280"/>
            <a:ext cx="11622449" cy="193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761"/>
              </a:lnSpc>
              <a:spcBef>
                <a:spcPct val="0"/>
              </a:spcBef>
            </a:pPr>
            <a:r>
              <a:rPr lang="en-US" sz="11258">
                <a:solidFill>
                  <a:srgbClr val="FFFFFF"/>
                </a:solidFill>
                <a:latin typeface="Open Sans Extra Bold"/>
              </a:rPr>
              <a:t>CAPTEURS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16214" y="9338250"/>
            <a:ext cx="297656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ns Extra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110472" y="8880481"/>
            <a:ext cx="297656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569E"/>
                </a:solidFill>
                <a:latin typeface="Open Sans Extra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914" r="0" b="-689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990215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2832861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61529" y="2937389"/>
            <a:ext cx="12164941" cy="4412223"/>
            <a:chOff x="0" y="0"/>
            <a:chExt cx="3203935" cy="11620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3935" cy="1162067"/>
            </a:xfrm>
            <a:custGeom>
              <a:avLst/>
              <a:gdLst/>
              <a:ahLst/>
              <a:cxnLst/>
              <a:rect r="r" b="b" t="t" l="l"/>
              <a:pathLst>
                <a:path h="1162067" w="3203935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32775" y="3067155"/>
            <a:ext cx="11622449" cy="393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761"/>
              </a:lnSpc>
              <a:spcBef>
                <a:spcPct val="0"/>
              </a:spcBef>
            </a:pPr>
            <a:r>
              <a:rPr lang="en-US" sz="11258">
                <a:solidFill>
                  <a:srgbClr val="FFFFFF"/>
                </a:solidFill>
                <a:latin typeface="Open Sans Extra Bold"/>
              </a:rPr>
              <a:t>ROBOT COCCINELLE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67386" y="9338250"/>
            <a:ext cx="595312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ns Extra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56837">
            <a:off x="718966" y="2667179"/>
            <a:ext cx="4122600" cy="2949806"/>
            <a:chOff x="0" y="0"/>
            <a:chExt cx="812800" cy="58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581575"/>
            </a:xfrm>
            <a:custGeom>
              <a:avLst/>
              <a:gdLst/>
              <a:ahLst/>
              <a:cxnLst/>
              <a:rect r="r" b="b" t="t" l="l"/>
              <a:pathLst>
                <a:path h="581575" w="812800">
                  <a:moveTo>
                    <a:pt x="609600" y="0"/>
                  </a:moveTo>
                  <a:cubicBezTo>
                    <a:pt x="721824" y="0"/>
                    <a:pt x="812800" y="130190"/>
                    <a:pt x="812800" y="290788"/>
                  </a:cubicBezTo>
                  <a:cubicBezTo>
                    <a:pt x="812800" y="451385"/>
                    <a:pt x="721824" y="581575"/>
                    <a:pt x="609600" y="581575"/>
                  </a:cubicBezTo>
                  <a:lnTo>
                    <a:pt x="203200" y="581575"/>
                  </a:lnTo>
                  <a:cubicBezTo>
                    <a:pt x="90976" y="581575"/>
                    <a:pt x="0" y="451385"/>
                    <a:pt x="0" y="290788"/>
                  </a:cubicBezTo>
                  <a:cubicBezTo>
                    <a:pt x="0" y="1301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4A0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63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Open Sans Extra Bold"/>
                </a:rPr>
                <a:t>Zone de départ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91107" y="6330822"/>
            <a:ext cx="4468100" cy="2927478"/>
            <a:chOff x="0" y="0"/>
            <a:chExt cx="812800" cy="53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532543"/>
            </a:xfrm>
            <a:custGeom>
              <a:avLst/>
              <a:gdLst/>
              <a:ahLst/>
              <a:cxnLst/>
              <a:rect r="r" b="b" t="t" l="l"/>
              <a:pathLst>
                <a:path h="532543" w="812800">
                  <a:moveTo>
                    <a:pt x="609600" y="0"/>
                  </a:moveTo>
                  <a:cubicBezTo>
                    <a:pt x="721824" y="0"/>
                    <a:pt x="812800" y="119214"/>
                    <a:pt x="812800" y="266271"/>
                  </a:cubicBezTo>
                  <a:cubicBezTo>
                    <a:pt x="812800" y="413329"/>
                    <a:pt x="721824" y="532543"/>
                    <a:pt x="609600" y="532543"/>
                  </a:cubicBezTo>
                  <a:lnTo>
                    <a:pt x="203200" y="532543"/>
                  </a:lnTo>
                  <a:cubicBezTo>
                    <a:pt x="90976" y="532543"/>
                    <a:pt x="0" y="413329"/>
                    <a:pt x="0" y="266271"/>
                  </a:cubicBezTo>
                  <a:cubicBezTo>
                    <a:pt x="0" y="11921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E05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58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Open Sans Extra Bold"/>
                </a:rPr>
                <a:t>Zone de dépot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2508896">
            <a:off x="4209789" y="4775290"/>
            <a:ext cx="2997918" cy="1868337"/>
            <a:chOff x="0" y="0"/>
            <a:chExt cx="943705" cy="588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3705" cy="588128"/>
            </a:xfrm>
            <a:custGeom>
              <a:avLst/>
              <a:gdLst/>
              <a:ahLst/>
              <a:cxnLst/>
              <a:rect r="r" b="b" t="t" l="l"/>
              <a:pathLst>
                <a:path h="588128" w="943705">
                  <a:moveTo>
                    <a:pt x="943705" y="294064"/>
                  </a:moveTo>
                  <a:lnTo>
                    <a:pt x="537305" y="0"/>
                  </a:lnTo>
                  <a:lnTo>
                    <a:pt x="537305" y="203200"/>
                  </a:lnTo>
                  <a:lnTo>
                    <a:pt x="0" y="203200"/>
                  </a:lnTo>
                  <a:lnTo>
                    <a:pt x="0" y="384928"/>
                  </a:lnTo>
                  <a:lnTo>
                    <a:pt x="537305" y="384928"/>
                  </a:lnTo>
                  <a:lnTo>
                    <a:pt x="537305" y="588128"/>
                  </a:lnTo>
                  <a:lnTo>
                    <a:pt x="943705" y="294064"/>
                  </a:ln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65100"/>
              <a:ext cx="842105" cy="219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9187771">
            <a:off x="2376369" y="4572043"/>
            <a:ext cx="807795" cy="859549"/>
          </a:xfrm>
          <a:custGeom>
            <a:avLst/>
            <a:gdLst/>
            <a:ahLst/>
            <a:cxnLst/>
            <a:rect r="r" b="b" t="t" l="l"/>
            <a:pathLst>
              <a:path h="859549" w="807795">
                <a:moveTo>
                  <a:pt x="0" y="0"/>
                </a:moveTo>
                <a:lnTo>
                  <a:pt x="807795" y="0"/>
                </a:lnTo>
                <a:lnTo>
                  <a:pt x="807795" y="859549"/>
                </a:lnTo>
                <a:lnTo>
                  <a:pt x="0" y="85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786205" y="8109370"/>
            <a:ext cx="538952" cy="1148930"/>
          </a:xfrm>
          <a:custGeom>
            <a:avLst/>
            <a:gdLst/>
            <a:ahLst/>
            <a:cxnLst/>
            <a:rect r="r" b="b" t="t" l="l"/>
            <a:pathLst>
              <a:path h="1148930" w="538952">
                <a:moveTo>
                  <a:pt x="0" y="0"/>
                </a:moveTo>
                <a:lnTo>
                  <a:pt x="538952" y="0"/>
                </a:lnTo>
                <a:lnTo>
                  <a:pt x="538952" y="1148930"/>
                </a:lnTo>
                <a:lnTo>
                  <a:pt x="0" y="114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43791" y="4409243"/>
            <a:ext cx="2427330" cy="2316997"/>
          </a:xfrm>
          <a:custGeom>
            <a:avLst/>
            <a:gdLst/>
            <a:ahLst/>
            <a:cxnLst/>
            <a:rect r="r" b="b" t="t" l="l"/>
            <a:pathLst>
              <a:path h="2316997" w="2427330">
                <a:moveTo>
                  <a:pt x="0" y="0"/>
                </a:moveTo>
                <a:lnTo>
                  <a:pt x="2427330" y="0"/>
                </a:lnTo>
                <a:lnTo>
                  <a:pt x="2427330" y="2316997"/>
                </a:lnTo>
                <a:lnTo>
                  <a:pt x="0" y="2316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56475" y="7048856"/>
            <a:ext cx="3138509" cy="2995850"/>
          </a:xfrm>
          <a:custGeom>
            <a:avLst/>
            <a:gdLst/>
            <a:ahLst/>
            <a:cxnLst/>
            <a:rect r="r" b="b" t="t" l="l"/>
            <a:pathLst>
              <a:path h="2995850" w="3138509">
                <a:moveTo>
                  <a:pt x="0" y="0"/>
                </a:moveTo>
                <a:lnTo>
                  <a:pt x="3138509" y="0"/>
                </a:lnTo>
                <a:lnTo>
                  <a:pt x="3138509" y="2995850"/>
                </a:lnTo>
                <a:lnTo>
                  <a:pt x="0" y="29958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6568033">
            <a:off x="1566960" y="6236607"/>
            <a:ext cx="1317539" cy="821106"/>
            <a:chOff x="0" y="0"/>
            <a:chExt cx="943705" cy="588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3705" cy="588128"/>
            </a:xfrm>
            <a:custGeom>
              <a:avLst/>
              <a:gdLst/>
              <a:ahLst/>
              <a:cxnLst/>
              <a:rect r="r" b="b" t="t" l="l"/>
              <a:pathLst>
                <a:path h="588128" w="943705">
                  <a:moveTo>
                    <a:pt x="943705" y="294064"/>
                  </a:moveTo>
                  <a:lnTo>
                    <a:pt x="537305" y="0"/>
                  </a:lnTo>
                  <a:lnTo>
                    <a:pt x="537305" y="203200"/>
                  </a:lnTo>
                  <a:lnTo>
                    <a:pt x="0" y="203200"/>
                  </a:lnTo>
                  <a:lnTo>
                    <a:pt x="0" y="384928"/>
                  </a:lnTo>
                  <a:lnTo>
                    <a:pt x="537305" y="384928"/>
                  </a:lnTo>
                  <a:lnTo>
                    <a:pt x="537305" y="588128"/>
                  </a:lnTo>
                  <a:lnTo>
                    <a:pt x="943705" y="294064"/>
                  </a:ln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842105" cy="219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-1078087" y="600083"/>
            <a:ext cx="16129289" cy="77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00569E"/>
                </a:solidFill>
                <a:latin typeface="Open Sans Extra Bold"/>
              </a:rPr>
              <a:t>LA STATÉGIE ADOPTÉE POUR LA COCCINELLE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97382" y="1674162"/>
            <a:ext cx="5625959" cy="6938676"/>
            <a:chOff x="0" y="0"/>
            <a:chExt cx="7501279" cy="9251568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389928" y="3100112"/>
              <a:ext cx="7111350" cy="556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051D40"/>
                  </a:solidFill>
                  <a:latin typeface="Open Sans Extra Bold"/>
                </a:rPr>
                <a:t>Les sous-tâches de la coccinelle :​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3903420"/>
              <a:ext cx="7386367" cy="5348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54" indent="-269877" lvl="1">
                <a:lnSpc>
                  <a:spcPts val="35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Open Sans"/>
                </a:rPr>
                <a:t>Se </a:t>
              </a:r>
              <a:r>
                <a:rPr lang="en-US" sz="2500" strike="noStrike" u="none">
                  <a:solidFill>
                    <a:srgbClr val="000000"/>
                  </a:solidFill>
                  <a:latin typeface="Open Sans"/>
                </a:rPr>
                <a:t>déplacer grâce à capteur de couleur permettant de suivre une ligne​​</a:t>
              </a:r>
            </a:p>
            <a:p>
              <a:pPr algn="l" marL="539754" indent="-269877" lvl="1">
                <a:lnSpc>
                  <a:spcPts val="35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00" strike="noStrike" u="none">
                  <a:solidFill>
                    <a:srgbClr val="000000"/>
                  </a:solidFill>
                  <a:latin typeface="Open Sans"/>
                </a:rPr>
                <a:t>Eviter les obstacles via un capteur ultrason​​</a:t>
              </a:r>
            </a:p>
            <a:p>
              <a:pPr algn="l" marL="539754" indent="-269877" lvl="1">
                <a:lnSpc>
                  <a:spcPts val="35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00" strike="noStrike" u="none">
                  <a:solidFill>
                    <a:srgbClr val="000000"/>
                  </a:solidFill>
                  <a:latin typeface="Open Sans"/>
                </a:rPr>
                <a:t>Toucher la plante dans la zone de dépôt à l’aide d’un capteur de toucher​</a:t>
              </a:r>
            </a:p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50738" y="-47625"/>
              <a:ext cx="4496338" cy="547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51D40"/>
                  </a:solidFill>
                  <a:latin typeface="Open Sans Extra Bold"/>
                </a:rPr>
                <a:t>La tâche principale : ​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67913" y="946880"/>
              <a:ext cx="7050541" cy="1715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Open Sans"/>
                </a:rPr>
                <a:t>amener la coccinelle jusqu’à la zone de dépôt afin qu’elle soit en contact avec la plante​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-584280">
            <a:off x="1044457" y="7869510"/>
            <a:ext cx="1589728" cy="431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</a:rPr>
              <a:t>Robot légo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961644" y="9182100"/>
            <a:ext cx="595312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569E"/>
                </a:solidFill>
                <a:latin typeface="Open Sans Extra Bold"/>
              </a:rPr>
              <a:t>11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197382" y="1448961"/>
            <a:ext cx="6061918" cy="7234874"/>
            <a:chOff x="0" y="0"/>
            <a:chExt cx="2042881" cy="24381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42881" cy="2438170"/>
            </a:xfrm>
            <a:custGeom>
              <a:avLst/>
              <a:gdLst/>
              <a:ahLst/>
              <a:cxnLst/>
              <a:rect r="r" b="b" t="t" l="l"/>
              <a:pathLst>
                <a:path h="2438170" w="2042881">
                  <a:moveTo>
                    <a:pt x="31929" y="0"/>
                  </a:moveTo>
                  <a:lnTo>
                    <a:pt x="2010952" y="0"/>
                  </a:lnTo>
                  <a:cubicBezTo>
                    <a:pt x="2019420" y="0"/>
                    <a:pt x="2027541" y="3364"/>
                    <a:pt x="2033529" y="9352"/>
                  </a:cubicBezTo>
                  <a:cubicBezTo>
                    <a:pt x="2039517" y="15339"/>
                    <a:pt x="2042881" y="23461"/>
                    <a:pt x="2042881" y="31929"/>
                  </a:cubicBezTo>
                  <a:lnTo>
                    <a:pt x="2042881" y="2406241"/>
                  </a:lnTo>
                  <a:cubicBezTo>
                    <a:pt x="2042881" y="2423875"/>
                    <a:pt x="2028586" y="2438170"/>
                    <a:pt x="2010952" y="2438170"/>
                  </a:cubicBezTo>
                  <a:lnTo>
                    <a:pt x="31929" y="2438170"/>
                  </a:lnTo>
                  <a:cubicBezTo>
                    <a:pt x="14295" y="2438170"/>
                    <a:pt x="0" y="2423875"/>
                    <a:pt x="0" y="2406241"/>
                  </a:cubicBezTo>
                  <a:lnTo>
                    <a:pt x="0" y="31929"/>
                  </a:lnTo>
                  <a:cubicBezTo>
                    <a:pt x="0" y="14295"/>
                    <a:pt x="14295" y="0"/>
                    <a:pt x="319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42881" cy="2476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1174" y="3089880"/>
            <a:ext cx="17549068" cy="5662680"/>
            <a:chOff x="0" y="0"/>
            <a:chExt cx="4153653" cy="13402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53653" cy="1340288"/>
            </a:xfrm>
            <a:custGeom>
              <a:avLst/>
              <a:gdLst/>
              <a:ahLst/>
              <a:cxnLst/>
              <a:rect r="r" b="b" t="t" l="l"/>
              <a:pathLst>
                <a:path h="1340288" w="4153653">
                  <a:moveTo>
                    <a:pt x="7500" y="0"/>
                  </a:moveTo>
                  <a:lnTo>
                    <a:pt x="4146154" y="0"/>
                  </a:lnTo>
                  <a:cubicBezTo>
                    <a:pt x="4150296" y="0"/>
                    <a:pt x="4153653" y="3358"/>
                    <a:pt x="4153653" y="7500"/>
                  </a:cubicBezTo>
                  <a:lnTo>
                    <a:pt x="4153653" y="1332789"/>
                  </a:lnTo>
                  <a:cubicBezTo>
                    <a:pt x="4153653" y="1334778"/>
                    <a:pt x="4152863" y="1336685"/>
                    <a:pt x="4151456" y="1338092"/>
                  </a:cubicBezTo>
                  <a:cubicBezTo>
                    <a:pt x="4150050" y="1339498"/>
                    <a:pt x="4148143" y="1340288"/>
                    <a:pt x="4146154" y="1340288"/>
                  </a:cubicBezTo>
                  <a:lnTo>
                    <a:pt x="7500" y="1340288"/>
                  </a:lnTo>
                  <a:cubicBezTo>
                    <a:pt x="5511" y="1340288"/>
                    <a:pt x="3603" y="1339498"/>
                    <a:pt x="2197" y="1338092"/>
                  </a:cubicBezTo>
                  <a:cubicBezTo>
                    <a:pt x="790" y="1336685"/>
                    <a:pt x="0" y="1334778"/>
                    <a:pt x="0" y="1332789"/>
                  </a:cubicBezTo>
                  <a:lnTo>
                    <a:pt x="0" y="7500"/>
                  </a:lnTo>
                  <a:cubicBezTo>
                    <a:pt x="0" y="5511"/>
                    <a:pt x="790" y="3603"/>
                    <a:pt x="2197" y="2197"/>
                  </a:cubicBezTo>
                  <a:cubicBezTo>
                    <a:pt x="3603" y="790"/>
                    <a:pt x="5511" y="0"/>
                    <a:pt x="7500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153653" cy="1378388"/>
            </a:xfrm>
            <a:prstGeom prst="rect">
              <a:avLst/>
            </a:prstGeom>
          </p:spPr>
          <p:txBody>
            <a:bodyPr anchor="ctr" rtlCol="false" tIns="56528" lIns="56528" bIns="56528" rIns="5652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5873391" y="3467417"/>
            <a:ext cx="0" cy="4907605"/>
          </a:xfrm>
          <a:prstGeom prst="line">
            <a:avLst/>
          </a:prstGeom>
          <a:ln cap="flat" w="3810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2039033" y="3455606"/>
            <a:ext cx="0" cy="4907605"/>
          </a:xfrm>
          <a:prstGeom prst="line">
            <a:avLst/>
          </a:prstGeom>
          <a:ln cap="flat" w="3810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71174" y="3455606"/>
            <a:ext cx="4622021" cy="3968493"/>
            <a:chOff x="0" y="0"/>
            <a:chExt cx="94665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6651" cy="812800"/>
            </a:xfrm>
            <a:custGeom>
              <a:avLst/>
              <a:gdLst/>
              <a:ahLst/>
              <a:cxnLst/>
              <a:rect r="r" b="b" t="t" l="l"/>
              <a:pathLst>
                <a:path h="812800" w="946651">
                  <a:moveTo>
                    <a:pt x="38525" y="0"/>
                  </a:moveTo>
                  <a:lnTo>
                    <a:pt x="908126" y="0"/>
                  </a:lnTo>
                  <a:cubicBezTo>
                    <a:pt x="918343" y="0"/>
                    <a:pt x="928142" y="4059"/>
                    <a:pt x="935367" y="11284"/>
                  </a:cubicBezTo>
                  <a:cubicBezTo>
                    <a:pt x="942592" y="18509"/>
                    <a:pt x="946651" y="28308"/>
                    <a:pt x="946651" y="38525"/>
                  </a:cubicBezTo>
                  <a:lnTo>
                    <a:pt x="946651" y="774275"/>
                  </a:lnTo>
                  <a:cubicBezTo>
                    <a:pt x="946651" y="784492"/>
                    <a:pt x="942592" y="794291"/>
                    <a:pt x="935367" y="801516"/>
                  </a:cubicBezTo>
                  <a:cubicBezTo>
                    <a:pt x="928142" y="808741"/>
                    <a:pt x="918343" y="812800"/>
                    <a:pt x="908126" y="812800"/>
                  </a:cubicBezTo>
                  <a:lnTo>
                    <a:pt x="38525" y="812800"/>
                  </a:lnTo>
                  <a:cubicBezTo>
                    <a:pt x="28308" y="812800"/>
                    <a:pt x="18509" y="808741"/>
                    <a:pt x="11284" y="801516"/>
                  </a:cubicBezTo>
                  <a:cubicBezTo>
                    <a:pt x="4059" y="794291"/>
                    <a:pt x="0" y="784492"/>
                    <a:pt x="0" y="774275"/>
                  </a:cubicBezTo>
                  <a:lnTo>
                    <a:pt x="0" y="38525"/>
                  </a:lnTo>
                  <a:cubicBezTo>
                    <a:pt x="0" y="28308"/>
                    <a:pt x="4059" y="18509"/>
                    <a:pt x="11284" y="11284"/>
                  </a:cubicBezTo>
                  <a:cubicBezTo>
                    <a:pt x="18509" y="4059"/>
                    <a:pt x="28308" y="0"/>
                    <a:pt x="38525" y="0"/>
                  </a:cubicBezTo>
                  <a:close/>
                </a:path>
              </a:pathLst>
            </a:custGeom>
            <a:blipFill>
              <a:blip r:embed="rId2"/>
              <a:stretch>
                <a:fillRect l="-6521" t="0" r="-652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251699" y="904875"/>
            <a:ext cx="11644724" cy="112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7"/>
              </a:lnSpc>
              <a:spcBef>
                <a:spcPct val="0"/>
              </a:spcBef>
            </a:pPr>
            <a:r>
              <a:rPr lang="en-US" sz="6605">
                <a:solidFill>
                  <a:srgbClr val="FDFDFD"/>
                </a:solidFill>
                <a:latin typeface="Open Sans Extra Bold"/>
              </a:rPr>
              <a:t>  Utilisation des capteurs​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0321" y="7548930"/>
            <a:ext cx="3571713" cy="157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5208" indent="-322604" lvl="1">
              <a:lnSpc>
                <a:spcPts val="4183"/>
              </a:lnSpc>
              <a:buFont typeface="Arial"/>
              <a:buChar char="•"/>
            </a:pPr>
            <a:r>
              <a:rPr lang="en-US" sz="2988">
                <a:solidFill>
                  <a:srgbClr val="145DA0"/>
                </a:solidFill>
                <a:latin typeface="Open Sans Extra Bold"/>
              </a:rPr>
              <a:t>Le capteur de couleurs ​</a:t>
            </a:r>
          </a:p>
          <a:p>
            <a:pPr algn="ctr">
              <a:lnSpc>
                <a:spcPts val="4183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153379" y="7548930"/>
            <a:ext cx="3275884" cy="157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5208" indent="-322604" lvl="1">
              <a:lnSpc>
                <a:spcPts val="4183"/>
              </a:lnSpc>
              <a:buFont typeface="Arial"/>
              <a:buChar char="•"/>
            </a:pPr>
            <a:r>
              <a:rPr lang="en-US" sz="2988">
                <a:solidFill>
                  <a:srgbClr val="145DA0"/>
                </a:solidFill>
                <a:latin typeface="Open Sans Extra Bold"/>
              </a:rPr>
              <a:t>Le capteur à ultrasons ​</a:t>
            </a:r>
          </a:p>
          <a:p>
            <a:pPr algn="ctr">
              <a:lnSpc>
                <a:spcPts val="4183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210608" y="7548930"/>
            <a:ext cx="2991912" cy="157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5208" indent="-322604" lvl="1">
              <a:lnSpc>
                <a:spcPts val="4183"/>
              </a:lnSpc>
              <a:buFont typeface="Arial"/>
              <a:buChar char="•"/>
            </a:pPr>
            <a:r>
              <a:rPr lang="en-US" sz="2988">
                <a:solidFill>
                  <a:srgbClr val="145DA0"/>
                </a:solidFill>
                <a:latin typeface="Open Sans Extra Bold"/>
              </a:rPr>
              <a:t>Le capteur de toucher ​</a:t>
            </a:r>
          </a:p>
          <a:p>
            <a:pPr algn="ctr">
              <a:lnSpc>
                <a:spcPts val="4183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5892441" y="3455606"/>
            <a:ext cx="6146592" cy="3968493"/>
            <a:chOff x="0" y="0"/>
            <a:chExt cx="1258904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8903" cy="812800"/>
            </a:xfrm>
            <a:custGeom>
              <a:avLst/>
              <a:gdLst/>
              <a:ahLst/>
              <a:cxnLst/>
              <a:rect r="r" b="b" t="t" l="l"/>
              <a:pathLst>
                <a:path h="812800" w="1258903">
                  <a:moveTo>
                    <a:pt x="28970" y="0"/>
                  </a:moveTo>
                  <a:lnTo>
                    <a:pt x="1229934" y="0"/>
                  </a:lnTo>
                  <a:cubicBezTo>
                    <a:pt x="1245933" y="0"/>
                    <a:pt x="1258903" y="12970"/>
                    <a:pt x="1258903" y="28970"/>
                  </a:cubicBezTo>
                  <a:lnTo>
                    <a:pt x="1258903" y="783830"/>
                  </a:lnTo>
                  <a:cubicBezTo>
                    <a:pt x="1258903" y="799830"/>
                    <a:pt x="1245933" y="812800"/>
                    <a:pt x="1229934" y="812800"/>
                  </a:cubicBezTo>
                  <a:lnTo>
                    <a:pt x="28970" y="812800"/>
                  </a:lnTo>
                  <a:cubicBezTo>
                    <a:pt x="12970" y="812800"/>
                    <a:pt x="0" y="799830"/>
                    <a:pt x="0" y="783830"/>
                  </a:cubicBezTo>
                  <a:lnTo>
                    <a:pt x="0" y="28970"/>
                  </a:lnTo>
                  <a:cubicBezTo>
                    <a:pt x="0" y="12970"/>
                    <a:pt x="12970" y="0"/>
                    <a:pt x="28970" y="0"/>
                  </a:cubicBezTo>
                  <a:close/>
                </a:path>
              </a:pathLst>
            </a:custGeom>
            <a:blipFill>
              <a:blip r:embed="rId3"/>
              <a:stretch>
                <a:fillRect l="-5191" t="0" r="-519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533546" y="3455606"/>
            <a:ext cx="4725754" cy="3968493"/>
            <a:chOff x="0" y="0"/>
            <a:chExt cx="967897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7897" cy="812800"/>
            </a:xfrm>
            <a:custGeom>
              <a:avLst/>
              <a:gdLst/>
              <a:ahLst/>
              <a:cxnLst/>
              <a:rect r="r" b="b" t="t" l="l"/>
              <a:pathLst>
                <a:path h="812800" w="967897">
                  <a:moveTo>
                    <a:pt x="37680" y="0"/>
                  </a:moveTo>
                  <a:lnTo>
                    <a:pt x="930217" y="0"/>
                  </a:lnTo>
                  <a:cubicBezTo>
                    <a:pt x="940211" y="0"/>
                    <a:pt x="949795" y="3970"/>
                    <a:pt x="956861" y="11036"/>
                  </a:cubicBezTo>
                  <a:cubicBezTo>
                    <a:pt x="963927" y="18102"/>
                    <a:pt x="967897" y="27686"/>
                    <a:pt x="967897" y="37680"/>
                  </a:cubicBezTo>
                  <a:lnTo>
                    <a:pt x="967897" y="775120"/>
                  </a:lnTo>
                  <a:cubicBezTo>
                    <a:pt x="967897" y="795930"/>
                    <a:pt x="951027" y="812800"/>
                    <a:pt x="930217" y="812800"/>
                  </a:cubicBezTo>
                  <a:lnTo>
                    <a:pt x="37680" y="812800"/>
                  </a:lnTo>
                  <a:cubicBezTo>
                    <a:pt x="27686" y="812800"/>
                    <a:pt x="18102" y="808830"/>
                    <a:pt x="11036" y="801764"/>
                  </a:cubicBezTo>
                  <a:cubicBezTo>
                    <a:pt x="3970" y="794698"/>
                    <a:pt x="0" y="785114"/>
                    <a:pt x="0" y="775120"/>
                  </a:cubicBezTo>
                  <a:lnTo>
                    <a:pt x="0" y="37680"/>
                  </a:lnTo>
                  <a:cubicBezTo>
                    <a:pt x="0" y="27686"/>
                    <a:pt x="3970" y="18102"/>
                    <a:pt x="11036" y="11036"/>
                  </a:cubicBezTo>
                  <a:cubicBezTo>
                    <a:pt x="18102" y="3970"/>
                    <a:pt x="27686" y="0"/>
                    <a:pt x="37680" y="0"/>
                  </a:cubicBezTo>
                  <a:close/>
                </a:path>
              </a:pathLst>
            </a:custGeom>
            <a:blipFill>
              <a:blip r:embed="rId4"/>
              <a:stretch>
                <a:fillRect l="-3540" t="0" r="-354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551879" y="9571230"/>
            <a:ext cx="595312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ns Extra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3609" y="1485879"/>
            <a:ext cx="14656104" cy="7772421"/>
          </a:xfrm>
          <a:custGeom>
            <a:avLst/>
            <a:gdLst/>
            <a:ahLst/>
            <a:cxnLst/>
            <a:rect r="r" b="b" t="t" l="l"/>
            <a:pathLst>
              <a:path h="7772421" w="14656104">
                <a:moveTo>
                  <a:pt x="0" y="0"/>
                </a:moveTo>
                <a:lnTo>
                  <a:pt x="14656104" y="0"/>
                </a:lnTo>
                <a:lnTo>
                  <a:pt x="14656104" y="7772421"/>
                </a:lnTo>
                <a:lnTo>
                  <a:pt x="0" y="7772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30620" y="914400"/>
            <a:ext cx="7884841" cy="102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569E"/>
                </a:solidFill>
                <a:latin typeface="Open Sans Extra Bold"/>
              </a:rPr>
              <a:t>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03022" y="9182100"/>
            <a:ext cx="595312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569E"/>
                </a:solidFill>
                <a:latin typeface="Open Sans Extra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914" r="0" b="-689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990215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2832861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61529" y="2937389"/>
            <a:ext cx="12164941" cy="4412223"/>
            <a:chOff x="0" y="0"/>
            <a:chExt cx="3203935" cy="11620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3935" cy="1162067"/>
            </a:xfrm>
            <a:custGeom>
              <a:avLst/>
              <a:gdLst/>
              <a:ahLst/>
              <a:cxnLst/>
              <a:rect r="r" b="b" t="t" l="l"/>
              <a:pathLst>
                <a:path h="1162067" w="3203935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32775" y="3067155"/>
            <a:ext cx="11622449" cy="393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761"/>
              </a:lnSpc>
              <a:spcBef>
                <a:spcPct val="0"/>
              </a:spcBef>
            </a:pPr>
            <a:r>
              <a:rPr lang="en-US" sz="11258">
                <a:solidFill>
                  <a:srgbClr val="FFFFFF"/>
                </a:solidFill>
                <a:latin typeface="Open Sans Extra Bold"/>
              </a:rPr>
              <a:t>PREMIÈRE RENCONTRE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67386" y="9338250"/>
            <a:ext cx="595312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ns Extra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19299" y="1613871"/>
            <a:ext cx="8839617" cy="7824143"/>
          </a:xfrm>
          <a:custGeom>
            <a:avLst/>
            <a:gdLst/>
            <a:ahLst/>
            <a:cxnLst/>
            <a:rect r="r" b="b" t="t" l="l"/>
            <a:pathLst>
              <a:path h="7824143" w="8839617">
                <a:moveTo>
                  <a:pt x="0" y="0"/>
                </a:moveTo>
                <a:lnTo>
                  <a:pt x="8839617" y="0"/>
                </a:lnTo>
                <a:lnTo>
                  <a:pt x="8839617" y="7824143"/>
                </a:lnTo>
                <a:lnTo>
                  <a:pt x="0" y="7824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103022" y="9182100"/>
            <a:ext cx="595312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569E"/>
                </a:solidFill>
                <a:latin typeface="Open Sans Extra Bold"/>
              </a:rPr>
              <a:t>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17082" y="2119770"/>
            <a:ext cx="5509963" cy="478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spcBef>
                <a:spcPct val="0"/>
              </a:spcBef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Open Sans Bold"/>
              </a:rPr>
              <a:t>Pour la première manche : </a:t>
            </a:r>
            <a:r>
              <a:rPr lang="en-US" sz="3400">
                <a:solidFill>
                  <a:srgbClr val="000000"/>
                </a:solidFill>
                <a:latin typeface="Open Sans"/>
              </a:rPr>
              <a:t>la plante se retrouve à une </a:t>
            </a:r>
            <a:r>
              <a:rPr lang="en-US" sz="3400" strike="noStrike" u="none">
                <a:solidFill>
                  <a:srgbClr val="000000"/>
                </a:solidFill>
                <a:latin typeface="Open Sans"/>
              </a:rPr>
              <a:t>distance de 1,5 mètres.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 strike="noStrike" u="none">
                <a:solidFill>
                  <a:srgbClr val="000000"/>
                </a:solidFill>
                <a:latin typeface="Open Sans Bold"/>
              </a:rPr>
              <a:t>Pour la deuxième manche</a:t>
            </a:r>
            <a:r>
              <a:rPr lang="en-US" sz="3400" strike="noStrike" u="none">
                <a:solidFill>
                  <a:srgbClr val="000000"/>
                </a:solidFill>
                <a:latin typeface="Open Sans"/>
              </a:rPr>
              <a:t> : la plante se retrouve à une distance de 3 mètres.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197382" y="1028700"/>
            <a:ext cx="6061918" cy="7234874"/>
            <a:chOff x="0" y="0"/>
            <a:chExt cx="2042881" cy="24381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2881" cy="2438170"/>
            </a:xfrm>
            <a:custGeom>
              <a:avLst/>
              <a:gdLst/>
              <a:ahLst/>
              <a:cxnLst/>
              <a:rect r="r" b="b" t="t" l="l"/>
              <a:pathLst>
                <a:path h="2438170" w="2042881">
                  <a:moveTo>
                    <a:pt x="31929" y="0"/>
                  </a:moveTo>
                  <a:lnTo>
                    <a:pt x="2010952" y="0"/>
                  </a:lnTo>
                  <a:cubicBezTo>
                    <a:pt x="2019420" y="0"/>
                    <a:pt x="2027541" y="3364"/>
                    <a:pt x="2033529" y="9352"/>
                  </a:cubicBezTo>
                  <a:cubicBezTo>
                    <a:pt x="2039517" y="15339"/>
                    <a:pt x="2042881" y="23461"/>
                    <a:pt x="2042881" y="31929"/>
                  </a:cubicBezTo>
                  <a:lnTo>
                    <a:pt x="2042881" y="2406241"/>
                  </a:lnTo>
                  <a:cubicBezTo>
                    <a:pt x="2042881" y="2423875"/>
                    <a:pt x="2028586" y="2438170"/>
                    <a:pt x="2010952" y="2438170"/>
                  </a:cubicBezTo>
                  <a:lnTo>
                    <a:pt x="31929" y="2438170"/>
                  </a:lnTo>
                  <a:cubicBezTo>
                    <a:pt x="14295" y="2438170"/>
                    <a:pt x="0" y="2423875"/>
                    <a:pt x="0" y="2406241"/>
                  </a:cubicBezTo>
                  <a:lnTo>
                    <a:pt x="0" y="31929"/>
                  </a:lnTo>
                  <a:cubicBezTo>
                    <a:pt x="0" y="14295"/>
                    <a:pt x="14295" y="0"/>
                    <a:pt x="319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42881" cy="2476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914" r="0" b="-689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990215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2832861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61529" y="2937389"/>
            <a:ext cx="12164941" cy="4412223"/>
            <a:chOff x="0" y="0"/>
            <a:chExt cx="3203935" cy="11620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3935" cy="1162067"/>
            </a:xfrm>
            <a:custGeom>
              <a:avLst/>
              <a:gdLst/>
              <a:ahLst/>
              <a:cxnLst/>
              <a:rect r="r" b="b" t="t" l="l"/>
              <a:pathLst>
                <a:path h="1162067" w="3203935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32775" y="4067280"/>
            <a:ext cx="11622449" cy="193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761"/>
              </a:lnSpc>
              <a:spcBef>
                <a:spcPct val="0"/>
              </a:spcBef>
            </a:pPr>
            <a:r>
              <a:rPr lang="en-US" sz="11258">
                <a:solidFill>
                  <a:srgbClr val="FFFFFF"/>
                </a:solidFill>
                <a:latin typeface="Open Sans Extra Bold"/>
              </a:rPr>
              <a:t>PINCE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67386" y="9338250"/>
            <a:ext cx="595312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ns Extra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56283" y="-2445901"/>
            <a:ext cx="15178802" cy="151788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007842" y="-1797460"/>
            <a:ext cx="13881919" cy="138819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18101" y="17679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35413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5318072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618101" y="7094753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7905455" y="2656032"/>
            <a:ext cx="373607" cy="37360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315313" y="4180490"/>
            <a:ext cx="373607" cy="37360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944228" y="7402839"/>
            <a:ext cx="373607" cy="37360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309460" y="5760481"/>
            <a:ext cx="373607" cy="37360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63541" y="269362"/>
            <a:ext cx="4851138" cy="9716019"/>
          </a:xfrm>
          <a:custGeom>
            <a:avLst/>
            <a:gdLst/>
            <a:ahLst/>
            <a:cxnLst/>
            <a:rect r="r" b="b" t="t" l="l"/>
            <a:pathLst>
              <a:path h="9716019" w="4851138">
                <a:moveTo>
                  <a:pt x="0" y="0"/>
                </a:moveTo>
                <a:lnTo>
                  <a:pt x="4851139" y="0"/>
                </a:lnTo>
                <a:lnTo>
                  <a:pt x="4851139" y="9716019"/>
                </a:lnTo>
                <a:lnTo>
                  <a:pt x="0" y="9716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763159" y="2041203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Open Sans Extra Bold"/>
              </a:rPr>
              <a:t>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89058" y="3814603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Open Sans Extra 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9058" y="5591284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Open Sans Extra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63159" y="7367965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Open Sans Extra Bold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40969" y="9607563"/>
            <a:ext cx="5885945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569E"/>
                </a:solidFill>
                <a:latin typeface="Open Sans Extra Bold"/>
              </a:rPr>
              <a:t>17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63159" y="2019932"/>
            <a:ext cx="8105232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00569E"/>
                </a:solidFill>
                <a:latin typeface="Open Sans Bold"/>
              </a:rPr>
              <a:t>Choix de la pince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72549" y="3805078"/>
            <a:ext cx="6757389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40"/>
              </a:lnSpc>
              <a:spcBef>
                <a:spcPct val="0"/>
              </a:spcBef>
            </a:pPr>
            <a:r>
              <a:rPr lang="en-US" sz="4600">
                <a:solidFill>
                  <a:srgbClr val="00569E"/>
                </a:solidFill>
                <a:latin typeface="Open Sans Bold"/>
              </a:rPr>
              <a:t>Assemblage de la pince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34080" y="5581759"/>
            <a:ext cx="5561611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40"/>
              </a:lnSpc>
              <a:spcBef>
                <a:spcPct val="0"/>
              </a:spcBef>
            </a:pPr>
            <a:r>
              <a:rPr lang="en-US" sz="4600">
                <a:solidFill>
                  <a:srgbClr val="00569E"/>
                </a:solidFill>
                <a:latin typeface="Open Sans Bold"/>
              </a:rPr>
              <a:t>Codage des actions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37606" y="7399553"/>
            <a:ext cx="8256390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40"/>
              </a:lnSpc>
              <a:spcBef>
                <a:spcPct val="0"/>
              </a:spcBef>
            </a:pPr>
            <a:r>
              <a:rPr lang="en-US" sz="4600">
                <a:solidFill>
                  <a:srgbClr val="00569E"/>
                </a:solidFill>
                <a:latin typeface="Open Sans Bold"/>
              </a:rPr>
              <a:t>Asservissement de la pince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72" t="0" r="-597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990215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2832861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61529" y="2937389"/>
            <a:ext cx="12164941" cy="4412223"/>
            <a:chOff x="0" y="0"/>
            <a:chExt cx="3203935" cy="11620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3935" cy="1162067"/>
            </a:xfrm>
            <a:custGeom>
              <a:avLst/>
              <a:gdLst/>
              <a:ahLst/>
              <a:cxnLst/>
              <a:rect r="r" b="b" t="t" l="l"/>
              <a:pathLst>
                <a:path h="1162067" w="3203935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32775" y="4067280"/>
            <a:ext cx="11622449" cy="193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761"/>
              </a:lnSpc>
              <a:spcBef>
                <a:spcPct val="0"/>
              </a:spcBef>
            </a:pPr>
            <a:r>
              <a:rPr lang="en-US" sz="11258">
                <a:solidFill>
                  <a:srgbClr val="FFFFFF"/>
                </a:solidFill>
                <a:latin typeface="Open Sans Extra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67386" y="9338250"/>
            <a:ext cx="595312" cy="67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ns Extra Bold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DAGEW8iRdk0</dc:identifier>
  <dcterms:modified xsi:type="dcterms:W3CDTF">2011-08-01T06:04:30Z</dcterms:modified>
  <cp:revision>1</cp:revision>
  <dc:title>Projet Robotique</dc:title>
</cp:coreProperties>
</file>